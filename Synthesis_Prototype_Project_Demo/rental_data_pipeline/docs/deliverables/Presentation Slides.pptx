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1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2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5B032-00C3-BF94-78EE-AA21C2EA0A10}" v="225" dt="2026-05-05T02:36:46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2721-819B-56DD-2408-8C084E83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B11BC-0833-2A13-EFBB-ADB525CF5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9BD82-7D16-58B6-A3D9-FB44FBE2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F1CB-B42E-8447-00CF-79C51D58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058C7-7E0D-365A-7964-2A28AFFC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9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FA3D-D037-36AB-8B53-BE5F583B5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AD8C-2CCB-377C-CB10-0C3B2CF2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5DA33-F36A-7B14-78D5-4DE6D9F0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9549F-C6AD-D054-CFD4-61F9DA07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E0CC-2D4B-04BE-2A22-6F1AC6AF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6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DBD4-8735-6FEA-FC65-59FC2378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D28FD-A5C6-1BAC-F471-643C0D00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3B377-2CAC-34A1-CDAD-33446442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C32FF-777A-2BF4-D868-4B853512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A843-3A1D-C91A-542E-E4C69941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1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FE88-824A-20F6-FB48-A92F8279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FFECB-D092-0675-82EF-D4EC59B4B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A7069-383A-D33D-2572-AA77CCE05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1FD99-80D3-1523-E365-69BFC88C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183BB-EC0D-7DE1-DD3C-DC08516E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A0041-4629-B24D-5E13-3024BC24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9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CDBE-C9C4-D043-71E2-A0A2FBE2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A4D2D-6531-6583-AAA1-FEC0926B2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38A79-F636-5095-EB78-CE8AB31A4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5B0DE-B09B-D5AD-1CC7-29248EE5C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372DE-57CB-C1F8-9628-870B4731F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0C2EF-F89D-C0C0-B306-B45D6711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41B2C-B146-39BD-F2D7-4D523F4C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79D7E-29B0-6B36-B1D4-08C977F7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2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C267-B6DF-6B3D-ACED-F8EA6735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C9191-1769-2060-0ACD-72BAEA0E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80DCF-BADD-A31E-5F16-B0C0C7D0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649F3-2B12-5AFE-9053-5B5C07C8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1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D9B3B-B53D-EEAB-9629-EA147BCD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2DE03-D63C-5839-59C1-1D40C0FB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CD7FF-FEE7-26C4-1C73-DC829515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1A06-7AB6-5FD5-5184-D1E43A6F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C0BDF-2158-7691-539F-C31592B4A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36091-A2B9-285F-4F7F-85C51718D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2F6A4-CEE4-F8C7-5CDB-CB6B27A7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51AD8-B6DF-CA85-FC49-D48CB2F6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27873-910A-87D2-740E-5909D486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8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7944-14D2-1CEF-3018-931C4005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56083-EC2A-A53C-FD4A-089DCDE22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21563-933D-152B-D820-3DFC62C9F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7F301-A295-C355-8980-F966A62C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1C52A-FCDD-0E26-8F8F-47DF1AC4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30C32-6BFD-2F45-E329-1FBBA843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B50F-91E6-064D-125A-CE5FB826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E10D3-4304-7F99-8F76-EA0BF3D1B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886B8-6167-97EB-5204-CDDEF0297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9F774-9324-1212-737D-8E224D57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1BD94-ACEE-816F-3596-4948A986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9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2C9B5-F655-A3BA-8759-0E7272612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C6355-76DB-54EA-9A58-BB3057C91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9450-6DB6-3152-7E61-69816005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F5903-3DC0-D77B-4A6C-5CB8A1B5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EE54A-A246-1778-23DC-2A86C7E7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2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C4D68-3319-E991-4AA2-3FFD40D1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47433-CBC6-CD25-174D-ACAAAD026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8536B-2E16-DD86-5C71-3891948E6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5DF6F-E397-4468-957F-8033E1FA70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B3BD8-C58C-1282-52C3-BE6CB7E22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9434-34F0-EF27-C079-F97BCE033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CF024-8DDB-4980-A524-507DC41F8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6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idm-6395-alexander-lawson.onrender.com/login/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2" y="965101"/>
            <a:ext cx="11814048" cy="1270197"/>
          </a:xfrm>
        </p:spPr>
        <p:txBody>
          <a:bodyPr>
            <a:normAutofit fontScale="90000"/>
          </a:bodyPr>
          <a:lstStyle/>
          <a:p>
            <a:r>
              <a:rPr lang="en-US" dirty="0"/>
              <a:t>Summit Equipment Rental Data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DC278-0E4B-7E40-A3ED-34498A47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0280"/>
            <a:ext cx="9144000" cy="1655762"/>
          </a:xfrm>
        </p:spPr>
        <p:txBody>
          <a:bodyPr/>
          <a:lstStyle/>
          <a:p>
            <a:r>
              <a:rPr lang="en-US" dirty="0"/>
              <a:t>A Synthesis Prototype — </a:t>
            </a:r>
            <a:r>
              <a:rPr lang="en-US" dirty="0" err="1"/>
              <a:t>CIDM</a:t>
            </a:r>
            <a:r>
              <a:rPr lang="en-US" dirty="0"/>
              <a:t>-6395 Capstone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8259A-4ABA-2C49-AE79-F40EA3AB90A7}"/>
              </a:ext>
            </a:extLst>
          </p:cNvPr>
          <p:cNvSpPr/>
          <p:nvPr/>
        </p:nvSpPr>
        <p:spPr>
          <a:xfrm>
            <a:off x="-12358" y="0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50012"/>
              </a:solidFill>
              <a:highlight>
                <a:srgbClr val="450012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12357" y="4386649"/>
            <a:ext cx="12204357" cy="2471351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5001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815" y="5307535"/>
            <a:ext cx="5420497" cy="7171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5159E2-72B8-66E8-F96C-2A5FE1DC3C13}"/>
              </a:ext>
            </a:extLst>
          </p:cNvPr>
          <p:cNvSpPr txBox="1"/>
          <p:nvPr/>
        </p:nvSpPr>
        <p:spPr>
          <a:xfrm>
            <a:off x="3035808" y="3028891"/>
            <a:ext cx="61081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Alexander J. Lawson</a:t>
            </a:r>
          </a:p>
          <a:p>
            <a:pPr algn="ctr">
              <a:spcAft>
                <a:spcPts val="1200"/>
              </a:spcAft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63720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58259A-4ABA-2C49-AE79-F40EA3AB90A7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F7816-38E0-CC42-A5EF-76EF8107543A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CE2F2F-85A1-F944-93B8-D48F8980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F6C14-BB5D-684F-808B-BB126292E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568118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A2A089-05B8-8040-AB8D-E190E2A5D6A7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Problem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F6FE00-0FE7-41AF-4BB1-6D8B9BC76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69"/>
          <a:stretch>
            <a:fillRect/>
          </a:stretch>
        </p:blipFill>
        <p:spPr>
          <a:xfrm>
            <a:off x="1144953" y="1474756"/>
            <a:ext cx="10231278" cy="18277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D2E7EF-0F4F-B729-5C3D-43ED99FC1847}"/>
              </a:ext>
            </a:extLst>
          </p:cNvPr>
          <p:cNvSpPr txBox="1"/>
          <p:nvPr/>
        </p:nvSpPr>
        <p:spPr>
          <a:xfrm>
            <a:off x="1520952" y="3410712"/>
            <a:ext cx="9198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$</a:t>
            </a:r>
            <a:r>
              <a:rPr lang="en-US" dirty="0" err="1"/>
              <a:t>2M</a:t>
            </a:r>
            <a:r>
              <a:rPr lang="en-US" dirty="0"/>
              <a:t>–$3M annual equipment rental portfolio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25+ third-party vendors across the country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collection relied on a single person, a spreadsheet template, and manual email follow-ups, policing i.e. </a:t>
            </a:r>
            <a:r>
              <a:rPr lang="en-US" b="1" dirty="0"/>
              <a:t>Repetitive, tiresome overhead to maintain.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Any absence, turnover, or error in that pipeline risked corruption of the entire analytical foundation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5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4A01-12C5-BB6F-4AA6-9E67D99C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A89623-EA70-7208-CD93-EFB96B344C82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A395E-E76A-1BDB-43A3-E39BFBCA2DF3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A8DDC6-58EF-FC3D-CD4D-213053BC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4CC49-3738-9C53-F9E1-19E43A1EF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257222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A6EC6D-3CFD-EA3D-C57E-B646249FC5D9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D7D1F-7FB2-6059-FB86-06E28781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11" b="21649"/>
          <a:stretch>
            <a:fillRect/>
          </a:stretch>
        </p:blipFill>
        <p:spPr>
          <a:xfrm>
            <a:off x="898065" y="1586403"/>
            <a:ext cx="10231278" cy="1464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69E50-6C07-CA1F-3CA4-530106F864F5}"/>
              </a:ext>
            </a:extLst>
          </p:cNvPr>
          <p:cNvSpPr txBox="1"/>
          <p:nvPr/>
        </p:nvSpPr>
        <p:spPr>
          <a:xfrm>
            <a:off x="1865376" y="3389440"/>
            <a:ext cx="9427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Vendors log in and upload their own data — no spreadsheets, no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data integrity enforcement at the submission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reviewer consolidates, validates, and publishes to a permanent master ledger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Embedded analytics serve live insights directly — no external BI tool required</a:t>
            </a:r>
          </a:p>
        </p:txBody>
      </p:sp>
    </p:spTree>
    <p:extLst>
      <p:ext uri="{BB962C8B-B14F-4D97-AF65-F5344CB8AC3E}">
        <p14:creationId xmlns:p14="http://schemas.microsoft.com/office/powerpoint/2010/main" val="353887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F3CC-AA69-E957-F252-E1B38302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EC4C83-927D-E9C4-980E-0DC624422AEA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B903-141C-EEE6-CE81-E3D39A0CA244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FC1FD-1DDB-6D0D-5E74-B9BB5D87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26D293-244F-A10B-DAE5-1BAAC0A36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586406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2721069-6640-E4A2-0450-8AB4C9316AD6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Four Pillars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2EFB80-4AB2-359B-D9EF-678B1176D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20160"/>
              </p:ext>
            </p:extLst>
          </p:nvPr>
        </p:nvGraphicFramePr>
        <p:xfrm>
          <a:off x="658368" y="1757952"/>
          <a:ext cx="10817352" cy="421031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3605784">
                  <a:extLst>
                    <a:ext uri="{9D8B030D-6E8A-4147-A177-3AD203B41FA5}">
                      <a16:colId xmlns:a16="http://schemas.microsoft.com/office/drawing/2014/main" val="2699707977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1657045384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857992674"/>
                    </a:ext>
                  </a:extLst>
                </a:gridCol>
              </a:tblGrid>
              <a:tr h="613677">
                <a:tc>
                  <a:txBody>
                    <a:bodyPr/>
                    <a:lstStyle/>
                    <a:p>
                      <a:r>
                        <a:rPr lang="en-US" sz="2400" dirty="0"/>
                        <a:t>Pillar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Metaphor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Role in This Project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9818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Software Systems (SS)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 Muscle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Django MVT, role-based views, vendor portal, management commands, SDLC documentation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43788823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Business Analytics (BA)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 Brain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Plotly analytics dashboard — Cost Over Time, Compliance, Rent vs. Buy, Week Comparison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7124302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Data Management (DM)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 Skeleton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Normalized schema, staging → master publish workflow, audit table, ORM migrations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066850204"/>
                  </a:ext>
                </a:extLst>
              </a:tr>
              <a:tr h="598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Cybersecurity &amp; Networking (CN)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 Nervous System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Login required on all views, middleware-enforced routing, OTP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2FA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CSRF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 protection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4713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99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FDEA-A92C-D413-0341-6A4B97B0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46FDAC-3D42-44E8-29F9-D58028571B76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14095-3FC6-9DB0-C066-3629B1D31DE9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5CBC53-72B9-8511-2BA3-BF7CD785D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1C98B6-0A74-608C-9803-0126F35AE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275510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3525D78-3943-F488-EB96-375B9B48D226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the Pillars Connect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F532B-7FDF-17BA-27D9-74180BD5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08" y="1644001"/>
            <a:ext cx="9015237" cy="42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3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55D0-F5BD-7532-390F-FE2B4727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46F177-E2A5-0534-4160-0D2EF5F1E689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73304-EFE0-58CB-0E82-711F7B8B5DE9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1E91A1-366C-D0A4-C393-35BDA342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7F590A-B16E-96CB-6576-9617E3D3D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558974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7BA9C8B-6F04-F5F3-4BE6-2B48048452B4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Secure Login &amp; </a:t>
            </a:r>
            <a:r>
              <a:rPr lang="en-US" dirty="0" err="1"/>
              <a:t>2FA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18819-322B-E3B8-52C4-5E1156614D79}"/>
              </a:ext>
            </a:extLst>
          </p:cNvPr>
          <p:cNvSpPr txBox="1"/>
          <p:nvPr/>
        </p:nvSpPr>
        <p:spPr>
          <a:xfrm>
            <a:off x="639997" y="5047488"/>
            <a:ext cx="1089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All accounts — vendors, reviewers, and admin — require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Mona Sans VF"/>
              </a:rPr>
              <a:t>2FA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 to enter. </a:t>
            </a:r>
            <a:r>
              <a:rPr lang="en-US" b="1" i="0" dirty="0">
                <a:solidFill>
                  <a:srgbClr val="1F2328"/>
                </a:solidFill>
                <a:effectLst/>
                <a:latin typeface="Mona Sans VF"/>
              </a:rPr>
              <a:t>No SMTP in demo: code is always 111111.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27DA8-E428-440C-6ACD-A4A0EA193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6" r="15327"/>
          <a:stretch>
            <a:fillRect/>
          </a:stretch>
        </p:blipFill>
        <p:spPr>
          <a:xfrm>
            <a:off x="639997" y="1542444"/>
            <a:ext cx="4827574" cy="3549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11313C-FC6E-DE34-DC69-880EBB4B67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75" r="13250"/>
          <a:stretch>
            <a:fillRect/>
          </a:stretch>
        </p:blipFill>
        <p:spPr>
          <a:xfrm>
            <a:off x="6230867" y="1540123"/>
            <a:ext cx="5114167" cy="354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68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3BAD-71D3-3437-CD2E-D6F236FC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63B05B-D461-7947-AFED-F1AC77E61FF4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5EEB0-DC44-DE12-63F5-FC09118641E7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BA8D5-ECCB-35FB-A739-3720D8B2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8FF3B7-A0BC-54B0-06FD-3305C066D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860726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A058984-3A5A-3403-274A-87E8E2B2D10D}"/>
              </a:ext>
            </a:extLst>
          </p:cNvPr>
          <p:cNvSpPr txBox="1">
            <a:spLocks/>
          </p:cNvSpPr>
          <p:nvPr/>
        </p:nvSpPr>
        <p:spPr>
          <a:xfrm>
            <a:off x="1981200" y="206920"/>
            <a:ext cx="8229600" cy="84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Vendor Portal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CEC27-F852-1B67-FA93-B29D7328B099}"/>
              </a:ext>
            </a:extLst>
          </p:cNvPr>
          <p:cNvSpPr txBox="1"/>
          <p:nvPr/>
        </p:nvSpPr>
        <p:spPr>
          <a:xfrm>
            <a:off x="624210" y="4568714"/>
            <a:ext cx="10984387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declaration of whether or not any changes have been made since last check-in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Vendor</a:t>
            </a:r>
            <a:r>
              <a:rPr lang="en-US" dirty="0"/>
              <a:t> sees only their own data — no cross-vendor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Inline editing: each row has edit/delete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 upload available for bulk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"Submit Weekly Report" locks the cycle and records the timestamp in </a:t>
            </a:r>
            <a:r>
              <a:rPr lang="en-US" dirty="0" err="1"/>
              <a:t>VendorAudit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C58C14-9A05-3A80-5947-E52A3689F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25" y="1049392"/>
            <a:ext cx="5402646" cy="295932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81FD9A-1383-D933-D3AE-48FE0A234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84" y="944617"/>
            <a:ext cx="5405602" cy="306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4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E7E1-3755-A4C7-B1E5-9DD24784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F42840-AB54-A59E-8C29-64CF7A671A07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06DD0-6AE1-56F5-2C24-6AB24238EE90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147799-8629-5B2D-474F-1C8263A82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BF478A-3B04-7E92-ED3B-8A92452A4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976550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B6A2F8-1E89-9693-D02A-4730AC306B0B}"/>
              </a:ext>
            </a:extLst>
          </p:cNvPr>
          <p:cNvSpPr txBox="1">
            <a:spLocks/>
          </p:cNvSpPr>
          <p:nvPr/>
        </p:nvSpPr>
        <p:spPr>
          <a:xfrm>
            <a:off x="1981200" y="285747"/>
            <a:ext cx="8229600" cy="86710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Reviewer Portal</a:t>
            </a:r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834AB866-6321-22E2-8CFA-8D664655F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5" y="1042660"/>
            <a:ext cx="5249918" cy="2841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2C700F-C183-93B5-D333-98609A6AA83F}"/>
              </a:ext>
            </a:extLst>
          </p:cNvPr>
          <p:cNvSpPr txBox="1"/>
          <p:nvPr/>
        </p:nvSpPr>
        <p:spPr>
          <a:xfrm>
            <a:off x="1116724" y="4650827"/>
            <a:ext cx="1043151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/>
              <a:t>Reviewer sees all vendors consolidated into one table</a:t>
            </a:r>
          </a:p>
          <a:p>
            <a:pPr algn="l">
              <a:buFont typeface=""/>
              <a:buChar char="•"/>
            </a:pPr>
            <a:r>
              <a:rPr lang="en-US"/>
              <a:t>Download CSV available for offline audit</a:t>
            </a:r>
          </a:p>
          <a:p>
            <a:pPr algn="l">
              <a:buFont typeface=""/>
              <a:buChar char="•"/>
            </a:pPr>
            <a:r>
              <a:rPr lang="en-US"/>
              <a:t>Publish is irreversible — confirmation modal enforces intent</a:t>
            </a:r>
          </a:p>
          <a:p>
            <a:pPr algn="l">
              <a:buFont typeface=""/>
              <a:buChar char="•"/>
            </a:pPr>
            <a:r>
              <a:rPr lang="en-US"/>
              <a:t>After publish, all 1474 rows move from rental_staging to rental_master</a:t>
            </a:r>
          </a:p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C3C006-3770-DC28-5D44-D7ECE11E4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27" y="3888992"/>
            <a:ext cx="5250573" cy="814224"/>
          </a:xfrm>
          <a:prstGeom prst="rect">
            <a:avLst/>
          </a:prstGeom>
        </p:spPr>
      </p:pic>
      <p:pic>
        <p:nvPicPr>
          <p:cNvPr id="8" name="Picture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137AA088-2989-A469-5B43-A65685859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949" y="1039867"/>
            <a:ext cx="5261413" cy="258423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8CF3EF-4AF4-6303-D35D-2FA5322A7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584" y="3625082"/>
            <a:ext cx="5216417" cy="102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1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919D-0959-3A4A-43D7-6ACFE8A5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1B7997-F623-78C0-E13E-C1BCF7F3B6A3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55756-64FE-EEB9-7E86-898D2BDF1267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600B2-4957-6378-DEBD-40C2613D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E2793-68F0-98C2-BA33-DF82A27AA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6080182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9F45FED-16BC-1430-3599-3954FCD5A619}"/>
              </a:ext>
            </a:extLst>
          </p:cNvPr>
          <p:cNvSpPr txBox="1">
            <a:spLocks/>
          </p:cNvSpPr>
          <p:nvPr/>
        </p:nvSpPr>
        <p:spPr>
          <a:xfrm>
            <a:off x="1560576" y="443403"/>
            <a:ext cx="930249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Analytics – Spend Over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D1F736-45B3-D55D-0456-1C0A43A75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26936"/>
            <a:ext cx="7369894" cy="3868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EEEA30-A64E-6186-E534-61339486D327}"/>
              </a:ext>
            </a:extLst>
          </p:cNvPr>
          <p:cNvSpPr txBox="1"/>
          <p:nvPr/>
        </p:nvSpPr>
        <p:spPr>
          <a:xfrm>
            <a:off x="7799832" y="1586403"/>
            <a:ext cx="39136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Customizable filtering by vendor, department, rental category, PO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"Export Report (PDF)" button for management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summary </a:t>
            </a:r>
            <a:r>
              <a:rPr lang="en-US" dirty="0" err="1"/>
              <a:t>KPIs</a:t>
            </a:r>
            <a:r>
              <a:rPr lang="en-US" dirty="0"/>
              <a:t>: equipment count, weekly spend, monthly run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 shows Week 1–18 of 2026 — spend trend visible across the year</a:t>
            </a:r>
          </a:p>
        </p:txBody>
      </p:sp>
    </p:spTree>
    <p:extLst>
      <p:ext uri="{BB962C8B-B14F-4D97-AF65-F5344CB8AC3E}">
        <p14:creationId xmlns:p14="http://schemas.microsoft.com/office/powerpoint/2010/main" val="2258250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954E1-9ACC-1ED1-1896-D06B1663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F6E200-0556-C1C5-D23D-5971C818250D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4D442-85BB-92B1-1093-9742E9C69605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0C48EC-82B2-07F5-8B2B-B0FC9FAF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EBB629-ABE7-E3C4-6025-EB3F92D64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976550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D24ED8F-310D-9F7F-A20E-069C3DCAC100}"/>
              </a:ext>
            </a:extLst>
          </p:cNvPr>
          <p:cNvSpPr txBox="1">
            <a:spLocks/>
          </p:cNvSpPr>
          <p:nvPr/>
        </p:nvSpPr>
        <p:spPr>
          <a:xfrm>
            <a:off x="429768" y="284206"/>
            <a:ext cx="10899648" cy="7294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Analytics – Weekly Comp &amp; Raw Ledger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EDB2B-626F-89C2-436A-73AD7D9FBD84}"/>
              </a:ext>
            </a:extLst>
          </p:cNvPr>
          <p:cNvSpPr txBox="1"/>
          <p:nvPr/>
        </p:nvSpPr>
        <p:spPr>
          <a:xfrm>
            <a:off x="267337" y="4798904"/>
            <a:ext cx="1150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Comp to show plainly what was taken on/off rent week to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table that shows the entirety of the DB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2DEFD4-8B0E-EC1D-C719-20A62E813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4" y="931025"/>
            <a:ext cx="5256198" cy="3782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D9A179-E097-1991-64AB-05D2EE5BC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687" y="1013672"/>
            <a:ext cx="4927014" cy="388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0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54C2-AC83-870D-DDB1-36EE0105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DDEE3A-6765-441F-5C63-AF5885392501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C9590-B959-144F-9F27-02804DD2D0CB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80EA61-B1BA-236D-BF1A-F313CE0F1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853DC8-E5AE-FD87-16AA-D6D2CD329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976550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DBEF3-EA5D-4B67-27E6-28A2E4E5CF4C}"/>
              </a:ext>
            </a:extLst>
          </p:cNvPr>
          <p:cNvSpPr txBox="1">
            <a:spLocks/>
          </p:cNvSpPr>
          <p:nvPr/>
        </p:nvSpPr>
        <p:spPr>
          <a:xfrm>
            <a:off x="429768" y="284206"/>
            <a:ext cx="10899648" cy="7294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Demo: Analytics – Compliance &amp; Rent v. Buy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A8436-78F2-45C9-4EBD-C83B9F2B3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74" y="971527"/>
            <a:ext cx="5434539" cy="388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3BFB54-3F86-6821-59B5-8CD38CF13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762" y="962383"/>
            <a:ext cx="5980864" cy="3810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A23779-98F3-A36C-6B00-7F4B3B5A4954}"/>
              </a:ext>
            </a:extLst>
          </p:cNvPr>
          <p:cNvSpPr txBox="1"/>
          <p:nvPr/>
        </p:nvSpPr>
        <p:spPr>
          <a:xfrm>
            <a:off x="267337" y="4798904"/>
            <a:ext cx="11508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Compliance chart: instant visibility into which vendors have submitted, which are late, which are 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Rent-vs-Buy: automatically calculated when a record crosses the monthly rate threshold relative to purchase price +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"Consider Purchasing" flag surfaces directly from data — no analyst intervention required</a:t>
            </a:r>
          </a:p>
        </p:txBody>
      </p:sp>
    </p:spTree>
    <p:extLst>
      <p:ext uri="{BB962C8B-B14F-4D97-AF65-F5344CB8AC3E}">
        <p14:creationId xmlns:p14="http://schemas.microsoft.com/office/powerpoint/2010/main" val="117844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F29F-7625-AC87-CE37-91A5526F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B90FB-C224-58FD-2363-3A88072065FF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E2F90-4C29-56B3-8A16-CE52C9418624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9E5E7A-2BE1-E0BA-72AB-E9197DCE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6C222-2DCA-8422-94CC-D88FFDD36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632126" cy="4435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C9F27B1-487E-C88F-F430-965CB60414F6}"/>
              </a:ext>
            </a:extLst>
          </p:cNvPr>
          <p:cNvSpPr txBox="1">
            <a:spLocks/>
          </p:cNvSpPr>
          <p:nvPr/>
        </p:nvSpPr>
        <p:spPr>
          <a:xfrm>
            <a:off x="1981200" y="259471"/>
            <a:ext cx="8229600" cy="1024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Fully Realized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6D6FA-ABBA-55D4-422B-235B90927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52852"/>
            <a:ext cx="9144000" cy="729465"/>
          </a:xfrm>
        </p:spPr>
        <p:txBody>
          <a:bodyPr/>
          <a:lstStyle/>
          <a:p>
            <a:r>
              <a:rPr lang="en-US" dirty="0"/>
              <a:t>What this system would look like in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88624-F4A5-FB6F-E82B-1F485EFDFCCD}"/>
              </a:ext>
            </a:extLst>
          </p:cNvPr>
          <p:cNvSpPr txBox="1"/>
          <p:nvPr/>
        </p:nvSpPr>
        <p:spPr>
          <a:xfrm>
            <a:off x="417367" y="1556962"/>
            <a:ext cx="11110694" cy="5078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/>
              <a:t>Infrastructure &amp; Security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PostgreSQL replacing SQLite(concurrent users, row-</a:t>
            </a:r>
            <a:r>
              <a:rPr lang="en-US"/>
              <a:t>level locking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HTTPS / TLS enforced at the </a:t>
            </a:r>
            <a:r>
              <a:rPr lang="en-US"/>
              <a:t>load balancer</a:t>
            </a:r>
            <a:r>
              <a:rPr lang="en-US" dirty="0"/>
              <a:t> level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Live OTP email delivery via </a:t>
            </a:r>
            <a:r>
              <a:rPr lang="en-US" dirty="0" err="1"/>
              <a:t>SendGridor</a:t>
            </a:r>
            <a:r>
              <a:rPr lang="en-US" dirty="0"/>
              <a:t> AWS SES (no hardcoded codes)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Audit log table capturing every publish, edit, and delete action with user + timestamp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/>
              <a:t>Analytical Capabilities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Multi-year trend analysis as the master ledger grows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Budget variance tracking: actual spend vs. departmental allocation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Automated late-submission alerts and vendor scorecards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AI-assisted anomaly detection on rate outliers (sudden spikes in monthly rate for the same asset)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/>
              <a:t>Operational Workflow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Automated weekly cycle advance — no manual management </a:t>
            </a:r>
            <a:r>
              <a:rPr lang="en-US"/>
              <a:t>commands needed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Email reminders to </a:t>
            </a:r>
            <a:r>
              <a:rPr lang="en-US"/>
              <a:t>vendors approaching</a:t>
            </a:r>
            <a:r>
              <a:rPr lang="en-US" dirty="0"/>
              <a:t> their submission deadline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Role expansion: department </a:t>
            </a:r>
            <a:r>
              <a:rPr lang="en-US"/>
              <a:t>budget approvers with limited-scope analytics access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CSV import from vendor ERP systems(reducing manual entry entirely)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8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4840-B20C-9418-EF45-B1F7D249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9356D8-E290-8DA0-9B4C-A404ACCF8CAC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B0CA5D-847D-F415-B045-330197E1A4EA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2AE38F-395B-3186-7E7F-12FEBF36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A54158-FE9C-7642-AFD0-F523BA66C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065198" cy="44356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5354519-9C3E-9658-164F-7C3DBD09E537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Synthesis Reflection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6C6108-3616-BA4A-DA4C-7F555F3AA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096273"/>
              </p:ext>
            </p:extLst>
          </p:nvPr>
        </p:nvGraphicFramePr>
        <p:xfrm>
          <a:off x="649224" y="1757952"/>
          <a:ext cx="10844784" cy="366167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5426964">
                  <a:extLst>
                    <a:ext uri="{9D8B030D-6E8A-4147-A177-3AD203B41FA5}">
                      <a16:colId xmlns:a16="http://schemas.microsoft.com/office/drawing/2014/main" val="2699707977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1657045384"/>
                    </a:ext>
                  </a:extLst>
                </a:gridCol>
              </a:tblGrid>
              <a:tr h="61367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Metaphor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9818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Software Systems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There is no application. No portal, no forms, no publish action. The entire pipeline disappears.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43788823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Business Analytics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 data is collected and stored, but no one can interpret it. Decisions revert to gut feel and spreadsheets.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7124302"/>
                  </a:ext>
                </a:extLst>
              </a:tr>
              <a:tr h="61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Data Management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There's no schema to enforce integrity. Vendors submit garbage. The "master ledger" is meaningless.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066850204"/>
                  </a:ext>
                </a:extLst>
              </a:tr>
              <a:tr h="598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Cybersecurity &amp; Networking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Any user can reach any view. Vendors see competitors' data. The dataset is compromised before it starts.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4713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1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9B13-7B63-96C0-612A-C15A1B25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B206CA-757A-DF15-39EB-F9F61809B81A}"/>
              </a:ext>
            </a:extLst>
          </p:cNvPr>
          <p:cNvSpPr/>
          <p:nvPr/>
        </p:nvSpPr>
        <p:spPr>
          <a:xfrm>
            <a:off x="-12357" y="0"/>
            <a:ext cx="12204357" cy="284206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2441E3-7E5F-7B55-19EB-3675B0AA3C72}"/>
              </a:ext>
            </a:extLst>
          </p:cNvPr>
          <p:cNvSpPr/>
          <p:nvPr/>
        </p:nvSpPr>
        <p:spPr>
          <a:xfrm>
            <a:off x="-12357" y="6128535"/>
            <a:ext cx="12204357" cy="729465"/>
          </a:xfrm>
          <a:prstGeom prst="rect">
            <a:avLst/>
          </a:prstGeom>
          <a:solidFill>
            <a:srgbClr val="450012"/>
          </a:solidFill>
          <a:ln>
            <a:solidFill>
              <a:srgbClr val="551D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9AD5B1-FFD5-1407-0E54-FE0E78DEB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94" y="6300085"/>
            <a:ext cx="2920312" cy="38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1B6C4C-DDAF-6DF7-952F-D49F6EBC3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50" y="6300085"/>
            <a:ext cx="5046910" cy="44356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Summit Equipment Rental Data Pipeline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05434CF-CC56-C07A-EF1A-C2C2652296B7}"/>
              </a:ext>
            </a:extLst>
          </p:cNvPr>
          <p:cNvSpPr txBox="1">
            <a:spLocks/>
          </p:cNvSpPr>
          <p:nvPr/>
        </p:nvSpPr>
        <p:spPr>
          <a:xfrm>
            <a:off x="1981200" y="44340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5688C-0DA4-649A-3182-4E2312BFF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390"/>
            <a:ext cx="11917680" cy="3310953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  <a:p>
            <a:endParaRPr lang="en-US" dirty="0"/>
          </a:p>
          <a:p>
            <a:r>
              <a:rPr lang="en-US" dirty="0"/>
              <a:t>Summit Rental Data Pipeline</a:t>
            </a:r>
          </a:p>
          <a:p>
            <a:r>
              <a:rPr lang="en-US" dirty="0"/>
              <a:t>Alexander J. </a:t>
            </a:r>
            <a:r>
              <a:rPr lang="en-US" dirty="0" err="1"/>
              <a:t>LawsonCIDM</a:t>
            </a:r>
            <a:r>
              <a:rPr lang="en-US" dirty="0"/>
              <a:t>-6395 Capstone | West Texas </a:t>
            </a:r>
            <a:r>
              <a:rPr lang="en-US" dirty="0" err="1"/>
              <a:t>A&amp;M</a:t>
            </a:r>
            <a:r>
              <a:rPr lang="en-US" dirty="0"/>
              <a:t> University | April 2026</a:t>
            </a:r>
          </a:p>
          <a:p>
            <a:r>
              <a:rPr lang="en-US" dirty="0"/>
              <a:t>GitHub Repo URL —</a:t>
            </a:r>
          </a:p>
          <a:p>
            <a:r>
              <a:rPr lang="en-US" dirty="0"/>
              <a:t>Hosted demo URL — </a:t>
            </a: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cidm</a:t>
            </a:r>
            <a:r>
              <a:rPr lang="en-US" dirty="0">
                <a:hlinkClick r:id="rId3"/>
              </a:rPr>
              <a:t>-6395-alexander-</a:t>
            </a:r>
            <a:r>
              <a:rPr lang="en-US" dirty="0" err="1">
                <a:hlinkClick r:id="rId3"/>
              </a:rPr>
              <a:t>lawson.onrender.com</a:t>
            </a:r>
            <a:r>
              <a:rPr lang="en-US" dirty="0">
                <a:hlinkClick r:id="rId3"/>
              </a:rPr>
              <a:t>/login/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1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807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  <vt:lpstr>Summit Equipment Rental Data Pipeline</vt:lpstr>
    </vt:vector>
  </TitlesOfParts>
  <Company>Cleveland-Cliffs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Lawson, Alexander J</dc:creator>
  <cp:lastModifiedBy>Lawson, Alexander J</cp:lastModifiedBy>
  <cp:revision>69</cp:revision>
  <dcterms:created xsi:type="dcterms:W3CDTF">2026-04-29T16:11:58Z</dcterms:created>
  <dcterms:modified xsi:type="dcterms:W3CDTF">2026-05-05T02:39:33Z</dcterms:modified>
</cp:coreProperties>
</file>